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E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F1E3A"/>
                </a:solidFill>
                <a:latin typeface="Calibri"/>
              </a:rPr>
              <a:t>Latency budget (ms, lower is better)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Loop target (ms)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E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VAD</c:v>
                  </c:pt>
                  <c:pt idx="1">
                    <c:v>STT first-partial</c:v>
                  </c:pt>
                  <c:pt idx="2">
                    <c:v>LLM first-token</c:v>
                  </c:pt>
                  <c:pt idx="3">
                    <c:v>TTS first-audio</c:v>
                  </c:pt>
                  <c:pt idx="4">
                    <c:v>Network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150</c:v>
                </c:pt>
                <c:pt idx="2">
                  <c:v>250</c:v>
                </c:pt>
                <c:pt idx="3">
                  <c:v>150</c:v>
                </c:pt>
                <c:pt idx="4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Botpress (Twilio bolt-on, est.)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E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VAD</c:v>
                  </c:pt>
                  <c:pt idx="1">
                    <c:v>STT first-partial</c:v>
                  </c:pt>
                  <c:pt idx="2">
                    <c:v>LLM first-token</c:v>
                  </c:pt>
                  <c:pt idx="3">
                    <c:v>TTS first-audio</c:v>
                  </c:pt>
                  <c:pt idx="4">
                    <c:v>Network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120</c:v>
                </c:pt>
                <c:pt idx="1">
                  <c:v>350</c:v>
                </c:pt>
                <c:pt idx="2">
                  <c:v>500</c:v>
                </c:pt>
                <c:pt idx="3">
                  <c:v>400</c:v>
                </c:pt>
                <c:pt idx="4">
                  <c:v>250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E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open-source, agent-first runtime for production AI agents.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build-ready spec for a next-gen Botpress competitor.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937760"/>
            <a:ext cx="3657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 Asare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April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332720" y="6492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codename — placeholder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sentences. The rest is detail.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914400" cy="9144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828800" y="15087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Botpress is winning on funding, not architecture.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196596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$45M raised, ~$7.8M ARR, ~120 staff. Their stack is mid-pivot from flow-builder to agent runtime. The seams are visible.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914400" cy="9144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08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828800" y="306324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seams are predictable and exploitable.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352044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Flow-first, TS-only, cloud-locked, no native voice, no MCP-native runtime, no eval harness, opaque pricing, no multi-agent.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914400" cy="9144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663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828800" y="461772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is the agent-first, MCP-native, voice + chat unified, eval-driven, OSS-core alternative.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507492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in 6 months with 5 engineers. Apache 2.0 runtime + transparent cloud control plane. Different category from Voiceflow.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· Botpress competitor spec · 29 Apr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shifts converged in 2026.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Flow-graphs are dying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collapse intents, entities, and flow nodes into a single tool-calling loop. Botpress, Voiceflow, Cognigy are all mid-pivot. Build agent-first from day one and win on architectural coherence.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645920"/>
            <a:ext cx="356616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783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the USB-C of agents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389120" y="246888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shipped MCP in late 2024. By 2026 the ecosystem has hundreds of servers and is adopted by Cursor, Claude Desktop, OpenAI Agents. Botpress grafted MCP on; Loop ships it as the native tool ABI.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0" y="1645920"/>
            <a:ext cx="356616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783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is table-stakes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0" y="246888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Vapi, Retell, Bland, ElevenLabs Agents have built 8-figure ARRs on sub-500ms voice. Botpress has no native voice. Any new platform without voice + chat unified is shipping an artifact.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solidFill>
            <a:srgbClr val="0F1E3A"/>
          </a:solidFill>
          <a:ln w="12700">
            <a:solidFill>
              <a:srgbClr val="0F1E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Window: ~18–24 months before OpenAI Agents SDK, Claude Agent SDK, LangChain Cloud, Sierra close it.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· Botpress competitor spec · 29 Apr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Botpress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B in June 2025. Strong polish, weak technical moat.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raised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35661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6459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$120M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389120" y="2423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Post-money (Series B)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0" y="1554480"/>
            <a:ext cx="35661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6459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~$7.8M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229600" y="2423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ARR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35661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004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in OSS repo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0" y="3108960"/>
            <a:ext cx="35661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32004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190+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389120" y="3977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integrations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0" y="3108960"/>
            <a:ext cx="35661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32004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229600" y="3977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voice channels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 include: Kia, EA, Shell, AmEx, UPS, Husqvarna, Aidoc, Windstream.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HQ: Montreal · Backers: Framework VP · Inovia · HubSpot Ventures · Decibel · Deloitte Ventures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· Botpress competitor spec · 29 Apr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Botpress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LMSz inference engine + Studio + Hub on AWS.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33272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(React) · ADK (TypeScript) · bp CLI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331720"/>
            <a:ext cx="10332720" cy="594360"/>
          </a:xfrm>
          <a:prstGeom prst="rect">
            <a:avLst/>
          </a:prstGeom>
          <a:solidFill>
            <a:srgbClr val="0F1E3A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317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LMSz Inference Engine — proprietary, closed source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017520"/>
            <a:ext cx="10332720" cy="594360"/>
          </a:xfrm>
          <a:prstGeom prst="rect">
            <a:avLst/>
          </a:prstGeom>
          <a:solidFill>
            <a:srgbClr val="33415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175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Node + flow graph + V8 sandbox (60s timeout)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703320"/>
            <a:ext cx="1033272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7033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(4-tier, 128 KB cap) · Postgres + pgvector · Tables · Hooks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4389120"/>
            <a:ext cx="1033272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3891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Web · WhatsApp · Slack · Teams · Telegram · SMS · Webhook · (no voice)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5074920"/>
            <a:ext cx="1033272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0749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hosting · multi-tenant cloud only · v12 OSS archived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" y="23317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black box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· Botpress competitor spec · 29 Apr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Botpress does well — and where it bleeds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are real. The gaps are deeper.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 works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Studio UX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tool calling in LMSz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190+ integrations on the Hub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B momentum + named logos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4-tier memory model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Vision-indexing (charts/diagrams in PDFs)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Human-in-the-Loop + shared inbox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9496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5544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Where it bleeds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5080" y="210312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Flow-first paradigm dressed up as agentic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voice (Twilio + Deepgram + 11Labs bolt-on)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grafted on, not the native tool ABI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costs opaque · hard caps blackhole the bot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Punitive overage rates ($20/extra GB vector)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starts → $10/bot/mo "Always Alive" upcharge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v12 OSS archived · cloud-only proprietary core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TypeScript-only SDK · Python-hostile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takeover broken — top complaint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evals · no token-level traces · no multi-agent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· Botpress competitor spec · 29 Apr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diaspora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v12 OSS users have nowhere to go. Win them.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463040"/>
          </a:xfrm>
          <a:prstGeom prst="rect">
            <a:avLst/>
          </a:prstGeom>
          <a:solidFill>
            <a:srgbClr val="0F1E3A"/>
          </a:solidFill>
          <a:ln w="12700">
            <a:solidFill>
              <a:srgbClr val="0F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Botpress v12 was AGPL-licensed and self-hostable.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now archived on GitHub with no maintenance, no Cloud migration path, broken tutorials, and no roadmap.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v12 users went: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434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state machines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60420" y="3840480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0420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60420" y="4434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multi-agent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3840480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72200" y="4434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flows + RAG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83980" y="3840480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83980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LangChain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83980" y="4434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control, ops cost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1064240" cy="777240"/>
          </a:xfrm>
          <a:prstGeom prst="rect">
            <a:avLst/>
          </a:prstGeom>
          <a:solidFill>
            <a:srgbClr val="F8FAFC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440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is a polished, voice-capable, channel-rich production platform. That gap is Loop's wedge.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· Botpress competitor spec · 29 Apr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wedges, one product.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41732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Agent-first, not flow-first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20116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Stateful, long-lived, composable Python objects. Flows are an optional view, not the substrate.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417320" y="3063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everywhere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35204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is an MCP server. Bring your own, or pick from 200+ in the public registry.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5720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417320" y="4572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Eval-driven dev loop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17320" y="50292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ships with a test suite. Every deploy gates on regression. Pre-built scorers.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1554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08660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chat unified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086600" y="20116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agent, one memory, runs on phone, Slack, web, WhatsApp, email simultaneously. Sub-700ms voice.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3063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086600" y="3063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OSS core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086600" y="35204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 runtime. 5% LLM markup, disclosed. Hard caps that don't blackhole the bot.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· Botpress competitor spec · 29 Apr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/ data plane split. Self-host the data plane.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solidFill>
            <a:srgbClr val="0F1E3A"/>
          </a:solidFill>
          <a:ln w="12700">
            <a:solidFill>
              <a:srgbClr val="0F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— Auth · Billing · Workspace · Deploy API · Eval orchestrator · Observability backend · MCP marketplace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1064240" cy="3108960"/>
          </a:xfrm>
          <a:prstGeom prst="rect">
            <a:avLst/>
          </a:prstGeom>
          <a:solidFill>
            <a:srgbClr val="F8FAFC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77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  (Cloud or Self-hosted, same code)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834640"/>
            <a:ext cx="2468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346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(Python core)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2834640"/>
            <a:ext cx="2468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8346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MCP Layer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(Firecracker sandboxes)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2834640"/>
            <a:ext cx="2468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28346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State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(Postgres · Redis · Qdrant)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69680" y="2834640"/>
            <a:ext cx="2468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0" y="28346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(multi-provider, cache, caps)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4069080"/>
            <a:ext cx="2468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690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Layer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 · WA · Slack · voice ...)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0" y="4069080"/>
            <a:ext cx="2468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0690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/ RAG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(Qdrant · hybrid retrieval)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4069080"/>
            <a:ext cx="2468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40690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(in-runtime scorers)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69680" y="4069080"/>
            <a:ext cx="2468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40690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(OTel → ClickHouse)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solidFill>
            <a:srgbClr val="0A1428"/>
          </a:solidFill>
          <a:ln w="12700">
            <a:solidFill>
              <a:srgbClr val="0A14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SURFACES — Python SDK · TS SDK · loop CLI · Studio (debugger, not flow editor)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· Botpress competitor spec · 29 Apr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voice moat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Sub-700ms p50. Phone numbers, barge-in, transfer-to-human.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8580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772400" y="1645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voice now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772400" y="2103120"/>
            <a:ext cx="393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WebRTC + SIP gateway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Silero VAD · Deepgram STT · ElevenLabs Turbo / Cartesia TTS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 provisioning at the Loop layer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Barge-in + RNNoise + hot-keyword transfer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 code as chat. One memory across channels.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 path with Whisper + Piper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· Botpress competitor spec · 29 Apr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Eval-driven by default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deploy gates on regression. Replays become tests.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03120" cy="1280160"/>
          </a:xfrm>
          <a:prstGeom prst="rect">
            <a:avLst/>
          </a:prstGeom>
          <a:solidFill>
            <a:srgbClr val="0F1E3A"/>
          </a:solidFill>
          <a:ln w="12700">
            <a:solidFill>
              <a:srgbClr val="0F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agent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SDK, type-checked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237744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80360" y="1737360"/>
            <a:ext cx="2103120" cy="1280160"/>
          </a:xfrm>
          <a:prstGeom prst="rect">
            <a:avLst/>
          </a:prstGeom>
          <a:solidFill>
            <a:srgbClr val="14B8A6"/>
          </a:solidFill>
          <a:ln w="12700">
            <a:solidFill>
              <a:srgbClr val="0F1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evals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80360" y="22402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scorers run on push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83480" y="237744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212080" y="1737360"/>
            <a:ext cx="2103120" cy="1280160"/>
          </a:xfrm>
          <a:prstGeom prst="rect">
            <a:avLst/>
          </a:prstGeom>
          <a:solidFill>
            <a:srgbClr val="F97316"/>
          </a:solidFill>
          <a:ln w="12700">
            <a:solidFill>
              <a:srgbClr val="0F1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12080" y="22402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deploy if &gt; threshold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0" y="237744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543800" y="1737360"/>
            <a:ext cx="2103120" cy="1280160"/>
          </a:xfrm>
          <a:prstGeom prst="rect">
            <a:avLst/>
          </a:prstGeom>
          <a:solidFill>
            <a:srgbClr val="0F1E3A"/>
          </a:solidFill>
          <a:ln w="12700">
            <a:solidFill>
              <a:srgbClr val="0F1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43800" y="22402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Streaming, traced, replayable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46920" y="237744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875520" y="1737360"/>
            <a:ext cx="2103120" cy="1280160"/>
          </a:xfrm>
          <a:prstGeom prst="rect">
            <a:avLst/>
          </a:prstGeom>
          <a:solidFill>
            <a:srgbClr val="14B8A6"/>
          </a:solidFill>
          <a:ln w="12700">
            <a:solidFill>
              <a:srgbClr val="0F1E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875520" y="22402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conv → eval case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383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scorers (extend with your own):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3840480"/>
            <a:ext cx="260604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8404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(rubric)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60420" y="3840480"/>
            <a:ext cx="260604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0420" y="38404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similarity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3840480"/>
            <a:ext cx="260604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38404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/ JSON-schema match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983980" y="3840480"/>
            <a:ext cx="260604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83980" y="38404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 assertion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572000"/>
            <a:ext cx="260604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5720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/ cost thresholds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360420" y="4572000"/>
            <a:ext cx="260604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60420" y="45720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groundedness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72200" y="4572000"/>
            <a:ext cx="260604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45720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Toxicity classifier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983980" y="4572000"/>
            <a:ext cx="260604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83980" y="45720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leakage / jailbreak resistance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eval registry (HuggingFace-style) for community-shared suites.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· Botpress competitor spec · 29 Apr 2026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Botpress monetizes infrastructure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quotas + rate-card overages. The most exploitable seam.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4023360"/>
        </p:xfrm>
        <a:graphic>
          <a:graphicData uri="http://schemas.openxmlformats.org/drawingml/2006/table">
            <a:tbl>
              <a:tblPr/>
              <a:tblGrid>
                <a:gridCol w="3474720"/>
                <a:gridCol w="1737360"/>
                <a:gridCol w="1737360"/>
                <a:gridCol w="173736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PAYG ($0)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($89)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($495)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Overage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Incoming messages / 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/ 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 / 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 / 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 per 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table 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 per 100,000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bots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 per bot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DB storage (RAG)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 per extra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storage (images / media)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 per extra 10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Workspace collaborator seats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 per seat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"Always Alive" (no cold start)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bots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 per bot / 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0F1E3A"/>
          </a:solidFill>
          <a:ln w="12700">
            <a:solidFill>
              <a:srgbClr val="0F1E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 per extra GB of vector storage = ~1000× the raw cloud cost. The single most exploitable economic seam in the model.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· Botpress competitor spec · 29 Apr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— predictable by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meters. No surprise renewals. Hard caps that don't blackhole.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4297680"/>
        </p:xfrm>
        <a:graphic>
          <a:graphicData uri="http://schemas.openxmlformats.org/drawingml/2006/table">
            <a:tbl>
              <a:tblPr/>
              <a:tblGrid>
                <a:gridCol w="3017520"/>
                <a:gridCol w="3931920"/>
                <a:gridCol w="4114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Botpress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/ hobby 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· 500 messages — unusable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· 1 agent · 100K agent-seconds · $5 LLM credit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paid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 / mo · $100 AI credit 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 / seat · 5 agents · 1M agent-seconds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$495 / mo · $500 AI 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$299 / seat · unlimited agents · evals + obs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markup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Pass-through, undisclosed rates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pass-through, disclosed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costs (WA, SMS, voice)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Billed externally — invisible on invoice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Surfaced as line items on the Loop invoice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cap behavior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 goes dark mid-month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 warn → degrade to cheaper model → never drop mid-turn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v12 archived · Cloud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 · helm chart · feature parity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0F1E3A"/>
          </a:solidFill>
          <a:ln w="12700">
            <a:solidFill>
              <a:srgbClr val="0F1E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commitments: never hard-cap mid-conversation · never mark up tokens beyond 5% · never charge for self-hosted use.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— 6 months, 5 engineers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 at public beta launch.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7784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(Month 0–6)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SDK (Agent · Tool · Memory · Channel)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Single-agent runtime (streaming, sandboxed tools)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 (OpenAI, Anthropic, Bedrock, vLLM)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layer + auto-MCP for Python functions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tiers (user · session · scratch)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PDF · web crawl · Notion · Qdrant + hybrid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web · Slack · WhatsApp · SMS · webhook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MVP: WebRTC + Deepgram + ElevenLabs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 — 6 built-in scorers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Studio: conversations · traces · replay · costs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control plane: auth · billing · deploy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self-host path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v0: ~25 built-in MCP servers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94960" cy="5029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5544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(Post-MVP)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5080" y="214884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primitives — month 7–9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 — month 7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 SDK auto-gen — month 5–6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chart for k8s — month 7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Discord · Telegram · Teams — month 7+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eval registry — month 9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SDK — post-MVP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flow auto-gen — month 9+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· Botpress competitor spec · 29 Apr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beta at month 6. Multi-agent GA at month 9. Enterprise GA at month 12.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572000"/>
        </p:xfrm>
        <a:graphic>
          <a:graphicData uri="http://schemas.openxmlformats.org/drawingml/2006/table">
            <a:tbl>
              <a:tblPr/>
              <a:tblGrid>
                <a:gridCol w="640080"/>
                <a:gridCol w="10424160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Hire engineers 1–4. Tech-stack lock-in.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alpha · Python SDK · LLM gateway · Slack channel.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Tool/MCP layer · Auto-MCP · KB ingestion v0 · Web widget.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 harness v0 · CLI v0 · Cloud control plane (auth, deploy).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alpha — 10 design partners · WhatsApp · Studio v0.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MVP · Memory tiers · Cost dashboard.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BETA · OSS the runtime · Hub v0 · Free hobby tier.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Episodic memory · Helm chart · Email + Telegram · Multi-agent v0.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 SDK GA · Discord + Teams · Replay / time-travel debugging.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GA · Public eval registry · Series A fundraise.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region · SOC2 Type 1 kickoff · Salesforce + Zendesk MCP.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≤700ms p50 · Phone-number provisioning · RCS.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GA · SSO/SAML · audit logs · on-prem parity · SOC2.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· Botpress competitor spec · 29 Apr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open questions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wrong, and what we still need to decide.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Frontier-lab SDKs eat the category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be the agnostic Switzerland — run on OpenAI, Anthropic, Bedrock, Ollama equally.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fragments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OpenAI/Google ship competing standards. Mitigation: MCP-first but adapter-flexible.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latency ceiling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Sub-700ms requires edge POPs and careful engineering. #1 schedule risk.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Botpress catches 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8920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funding. Doing voice + MCP + true OSS in 12 months while mid-pivot is unlikely.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54406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engineering complexity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7607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async + streaming + multi-agent + sandboxes is genuinely hard. Hire #1 must be exceptional.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1554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63640" y="201168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2940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Codename · domain · trademark search.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265176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founder or co-founder? CTO lined up?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329184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29400" y="3246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plan — bootstrap, pre-seed, $4–6M seed?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393192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29400" y="3886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— Apache 2.0, SSPL, or BSL?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640" y="457200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29400" y="4526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affects hiring + EU residency story.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63640" y="521208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5212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29400" y="5166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focus — horizontal, or lead with CX?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· Botpress competitor spec · 29 Apr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645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Botpress is winning the present.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not building the future.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3291840"/>
            <a:ext cx="3657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is </a:t>
            </a:r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agent-first, MCP-native, voice + chat unified, eval-driven, OSS-core.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in 6 months. Public beta in month 6. Multi-agent GA in month 9. Enterprise GA in month 12.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54406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Pick the codename · lock the license · seed-round narrative · land hire #1 (runtime).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· Botpress competitor spec · 29 Apr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 — Botpress Competitor Pitch</dc:title>
  <dc:subject>PptxGenJS Presentation</dc:subject>
  <dc:creator>Praise Asare</dc:creator>
  <cp:lastModifiedBy>Praise Asare</cp:lastModifiedBy>
  <cp:revision>1</cp:revision>
  <dcterms:created xsi:type="dcterms:W3CDTF">2026-04-29T17:06:33Z</dcterms:created>
  <dcterms:modified xsi:type="dcterms:W3CDTF">2026-04-29T17:06:33Z</dcterms:modified>
</cp:coreProperties>
</file>